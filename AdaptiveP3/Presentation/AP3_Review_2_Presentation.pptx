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  <a:defRPr sz="1800" b="1" i="0">
                <a:solidFill>
                  <a:srgbClr val="2563EB"/>
                </a:solidFill>
                <a:latin typeface="Calibri"/>
              </a:defRPr>
            </a:pPr>
            <a:r>
              <a:t>B.Tech — BESE497J — Project 1 (Review 2)</a:t>
            </a:r>
          </a:p>
          <a:p>
            <a:pPr>
              <a:spcAft>
                <a:spcPts val="600"/>
              </a:spcAft>
              <a:defRPr sz="3200" b="1" i="0">
                <a:solidFill>
                  <a:srgbClr val="0F2B5C"/>
                </a:solidFill>
                <a:latin typeface="Calibri"/>
              </a:defRPr>
            </a:pPr>
            <a:r>
              <a:t>AP3: Adaptive Privacy-Preserving Proxy</a:t>
            </a:r>
          </a:p>
          <a:p>
            <a:pPr>
              <a:spcAft>
                <a:spcPts val="1200"/>
              </a:spcAft>
              <a:defRPr sz="1600" b="0" i="1">
                <a:solidFill>
                  <a:srgbClr val="64748B"/>
                </a:solidFill>
                <a:latin typeface="Calibri"/>
              </a:defRPr>
            </a:pPr>
            <a:r>
              <a:t>A Live Risk-Adaptive Differential-Privacy Middleware Proxy for Relational Databases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400" b="1" i="0">
                <a:solidFill>
                  <a:srgbClr val="0F2B5C"/>
                </a:solidFill>
                <a:latin typeface="Calibri"/>
              </a:defRPr>
            </a:pPr>
            <a: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spcAft>
                <a:spcPts val="200"/>
              </a:spcAft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• Aadhaar Verma  (23BCI0111)</a:t>
            </a:r>
          </a:p>
          <a:p>
            <a:pPr>
              <a:spcAft>
                <a:spcPts val="200"/>
              </a:spcAft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• Ayan Gattani  (23BCT0059)</a:t>
            </a:r>
          </a:p>
          <a:p>
            <a:pPr>
              <a:spcAft>
                <a:spcPts val="200"/>
              </a:spcAft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• Lakshay Tuteja  (23BCT0118)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1" i="0">
                <a:solidFill>
                  <a:srgbClr val="0F2B5C"/>
                </a:solidFill>
                <a:latin typeface="Calibri"/>
              </a:defRPr>
            </a:pPr>
            <a:r>
              <a:t>Faculty Guide:</a:t>
            </a:r>
          </a:p>
          <a:p>
            <a:pPr>
              <a:spcAft>
                <a:spcPts val="200"/>
              </a:spcAft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Dr. Somasundaram S K, Associate Professor</a:t>
            </a:r>
          </a:p>
          <a:p>
            <a:pPr>
              <a:spcAft>
                <a:spcPts val="0"/>
              </a:spcAft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SCOPE, VIT University, Vellore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600" b="1" i="0">
                <a:solidFill>
                  <a:srgbClr val="0F2B5C"/>
                </a:solidFill>
                <a:latin typeface="Calibri"/>
              </a:defRPr>
            </a:pPr>
            <a:r>
              <a:t>Project Progress &amp; Review 2 Milestone Approval</a:t>
            </a:r>
          </a:p>
          <a:p>
            <a:pPr>
              <a:spcAft>
                <a:spcPts val="300"/>
              </a:spcAft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• Guide: Dr. Somasundaram S K (SCOPE, VIT Vellore)</a:t>
            </a:r>
          </a:p>
          <a:p>
            <a:pPr>
              <a:spcAft>
                <a:spcPts val="600"/>
              </a:spcAft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• Status: Implementation of risk-to-ε coupling, graceful degradation schedule, PostgreSQL proxy pipeline, and experimental benchmark suite completed and verified for Review 2.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  <a:defRPr sz="1800" b="1" i="0">
                <a:solidFill>
                  <a:srgbClr val="0F2B5C"/>
                </a:solidFill>
                <a:latin typeface="Calibri"/>
              </a:defRPr>
            </a:pPr>
            <a:r>
              <a:t>Primary Aim</a:t>
            </a:r>
          </a:p>
          <a:p>
            <a:pPr>
              <a:spcAft>
                <a:spcPts val="1000"/>
              </a:spcAft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To design, implement, and evaluate AP3 (Adaptive Privacy-Preserving Proxy), a high-performance middleware SQL proxy that dynamically couples a live inference/triangulation risk signal to differential-privacy (DP) budget consumption.</a:t>
            </a:r>
          </a:p>
          <a:p>
            <a:pPr>
              <a:spcAft>
                <a:spcPts val="1600"/>
              </a:spcAft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AP3 replaces static per-role privacy budgets and abrupt query-denial thresholds with a risk-adaptive control loop, ensuring query answers degrade gracefully under rising triangulation risk instead of being denied outright.</a:t>
            </a:r>
          </a:p>
          <a:p>
            <a:pPr>
              <a:spcAft>
                <a:spcPts val="600"/>
              </a:spcAft>
              <a:defRPr sz="1600" b="1" i="0">
                <a:solidFill>
                  <a:srgbClr val="0F2B5C"/>
                </a:solidFill>
                <a:latin typeface="Calibri"/>
              </a:defRPr>
            </a:pPr>
            <a:r>
              <a:t>Scope of Review 2 Implementation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Attribute-Based Access Control (ABAC): Role-based lifetime privacy budgets (Admin: 20.0, Researcher: 10.0, Guest: 2.0) with sequential privacy composition.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Continuous Triangulation Tracking: Live inference risk signal r(u, q) in [0, 1) evaluating subpopulation predicate overlap, column Jaccard distance, and exponential temporal decay.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Risk-to-ε Dynamic Coupling Engine: Dynamically scales effective query budget: ε_eff(u, q) = max(ε_min, ε_role · (1 - r(u, q))^γ).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Non-Leaking Graceful Degradation Schedule: Monotonically increasing Laplace noise schedule replacing hard HTTP 403/429 query denial, eliminating query-auditing side channels.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PostgreSQL Database Integration: Full query-time proxy pipeline running against PostgreSQL with sub-3ms latency overhead and interactive UI dashboard.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300"/>
              </a:spcAft>
              <a:defRPr sz="1500" b="1" i="0">
                <a:solidFill>
                  <a:srgbClr val="0F2B5C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1250" b="0" i="0">
                <a:solidFill>
                  <a:srgbClr val="1E293B"/>
                </a:solidFill>
                <a:latin typeface="Calibri"/>
              </a:defRPr>
            </a:pPr>
            <a:r>
              <a:t>Relational databases in collaborative analytics face a fundamental dilemma: traditional role-based access control (RBAC/ABAC) cannot detect cumulative inference across sequential queries, while conventional Differential Privacy (DP) engines enforce static per-query budgets and rely on hard query denial (HTTP 403/429) when thresholds are breached. In statistical databases, hard denial acts as an oracle that leaks individual presence (denial leakage).</a:t>
            </a:r>
          </a:p>
          <a:p>
            <a:pPr>
              <a:spcAft>
                <a:spcPts val="300"/>
              </a:spcAft>
              <a:defRPr sz="1500" b="1" i="0">
                <a:solidFill>
                  <a:srgbClr val="0F2B5C"/>
                </a:solidFill>
                <a:latin typeface="Calibri"/>
              </a:defRPr>
            </a:pPr>
            <a:r>
              <a:t>The AP3 Architecture</a:t>
            </a:r>
          </a:p>
          <a:p>
            <a:pPr>
              <a:spcAft>
                <a:spcPts val="800"/>
              </a:spcAft>
              <a:defRPr sz="1250" b="0" i="0">
                <a:solidFill>
                  <a:srgbClr val="1E293B"/>
                </a:solidFill>
                <a:latin typeface="Calibri"/>
              </a:defRPr>
            </a:pPr>
            <a:r>
              <a:t>AP3 introduces a query-time middleware framework integrating four synergistic defense layers: (1) SQL AST parsing and subpopulation predicate extraction via sqlparse; (2) continuous triangulation risk tracking r(u, q) in [0, 1) combining column Jaccard distance, predicate interval overlap, and exponential time decay; (3) dynamic risk-to-ε coupling ε_eff = ε_role · (1 - r)^γ; and (4) non-leaking graceful degradation where answers degrade smoothly to an ε_min noise floor instead of being denied.</a:t>
            </a:r>
          </a:p>
          <a:p>
            <a:pPr>
              <a:spcAft>
                <a:spcPts val="300"/>
              </a:spcAft>
              <a:defRPr sz="1500" b="1" i="0">
                <a:solidFill>
                  <a:srgbClr val="0F2B5C"/>
                </a:solidFill>
                <a:latin typeface="Calibri"/>
              </a:defRPr>
            </a:pPr>
            <a:r>
              <a:t>Experimental Validation &amp; Review 2 Outcomes</a:t>
            </a:r>
          </a:p>
          <a:p>
            <a:pPr>
              <a:spcAft>
                <a:spcPts val="800"/>
              </a:spcAft>
              <a:defRPr sz="1250" b="0" i="0">
                <a:solidFill>
                  <a:srgbClr val="1E293B"/>
                </a:solidFill>
                <a:latin typeface="Calibri"/>
              </a:defRPr>
            </a:pPr>
            <a:r>
              <a:t>Implemented as a FastAPI proxy over PostgreSQL with SQLite audit logging and an interactive telemetry dashboard. Benchmarking demonstrates: (1) empirical verification of theoretical Laplace error bounds; (2) complete suppression of targeted salary reconstruction attacks; and (3) ultra-low middleware processing overhead of ~2.6 ms per query (target &lt; 15 ms).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3017520"/>
                <a:gridCol w="2926080"/>
              </a:tblGrid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&amp; Author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/ Approach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Pros (+) / Limitations (-)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AP3 Innovation / Research Gap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Cascio et al. (DP4SQL, 2026)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Policy-driven DP enforcement layer over SQL queries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(+) Flexible per-relation policies</a:t>
                      </a:r>
                      <a:br/>
                      <a:r>
                        <a:t>(-) Static budgets, no live risk adaptation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AP3 introduces live query-time triangulation-to-ε adaptation.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Majeed et al. (IEEE TKDE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Sensitivity-aware, PSO-driven customized ε-DP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(+) Fine-grained record-level budget</a:t>
                      </a:r>
                      <a:br/>
                      <a:r>
                        <a:t>(-) Offline / deep learning context, not SQL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AP3 brings dynamic budget calibration to query-time relational SQL.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Guerra-Balboa et al. (2026)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Disclosure risk metric using reconstruction advantage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(+) Rigorous information-theoretic risk</a:t>
                      </a:r>
                      <a:br/>
                      <a:r>
                        <a:t>(-) Offline metric, not evaluated on live DB proxy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AP3 operationalizes a continuous bounded risk signal r(u,q) in [0,1).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Madhusudhanan et al. (PRiDe,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Contextual adaptive DP with role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(+) Couples risk to ABAC gating</a:t>
                      </a:r>
                      <a:br/>
                      <a:r>
                        <a:t>(-) IoT/digital-twin domain, not relational DBs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AP3 develops relational proxy mechanics with SQL predicate overlap.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Yu et al. (DOP-SQL, VLDB 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Down-neighborhood optimal DP for SQL on PostgreSQL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(+) Tighter theoretical noise bounds</a:t>
                      </a:r>
                      <a:br/>
                      <a:r>
                        <a:t>(-) Rigid static budget, hard query denial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AP3 replaces hard denial with non-leaking graceful degradation.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Aljaedi (ICCIT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DP triggered dynamically by inference attack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(+) Detects inference to invoke DP</a:t>
                      </a:r>
                      <a:br/>
                      <a:r>
                        <a:t>(-) Single threshold trigger, no ABAC / budgets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AP3 formalizes unified four-pillar proxy with continuous coupling.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G1: Live Risk-Adaptive Privacy Budgeting (ε)</a:t>
            </a:r>
          </a:p>
          <a:p>
            <a:pPr>
              <a:spcAft>
                <a:spcPts val="700"/>
              </a:spcAft>
              <a:defRPr sz="1150" b="0" i="0">
                <a:solidFill>
                  <a:srgbClr val="1E293B"/>
                </a:solidFill>
                <a:latin typeface="Calibri"/>
              </a:defRPr>
            </a:pPr>
            <a:r>
              <a:t>Conventional differential privacy proxies enforce static per-role budgets or fixed per-query epsilon values. Coupling live, empirical triangulation risk directly to dynamic DP budget consumption at query time remains an unaddressed frontier in relational database security.</a:t>
            </a:r>
          </a:p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G2: Denial Leakage &amp; Query-Auditing Side Channels</a:t>
            </a:r>
          </a:p>
          <a:p>
            <a:pPr>
              <a:spcAft>
                <a:spcPts val="700"/>
              </a:spcAft>
              <a:defRPr sz="1150" b="0" i="0">
                <a:solidFill>
                  <a:srgbClr val="1E293B"/>
                </a:solidFill>
                <a:latin typeface="Calibri"/>
              </a:defRPr>
            </a:pPr>
            <a:r>
              <a:t>Existing statistical database auditing systems reject queries (raising HTTP 403/429) when thresholds or budgets are breached. This hard refusal acts as an unintended side channel: an adversary learns that their query matched sensitive target records, confirming subpopulation boundaries.</a:t>
            </a:r>
          </a:p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G3: Formalized Triangulation Signal vs. Heuristic Overlap Counting</a:t>
            </a:r>
          </a:p>
          <a:p>
            <a:pPr>
              <a:spcAft>
                <a:spcPts val="700"/>
              </a:spcAft>
              <a:defRPr sz="1150" b="0" i="0">
                <a:solidFill>
                  <a:srgbClr val="1E293B"/>
                </a:solidFill>
                <a:latin typeface="Calibri"/>
              </a:defRPr>
            </a:pPr>
            <a:r>
              <a:t>Prior triangulation detectors rely on simplistic table-overlap counters (e.g., block if table queried ≥ 5 times). They fail to account for fine-grained subpopulation predicate similarity (WHERE clause intervals), column Jaccard distance, and exponential temporal decay.</a:t>
            </a:r>
          </a:p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G4: Unified Four-Pillar Query-Time Architecture</a:t>
            </a:r>
          </a:p>
          <a:p>
            <a:pPr>
              <a:spcAft>
                <a:spcPts val="700"/>
              </a:spcAft>
              <a:defRPr sz="1150" b="0" i="0">
                <a:solidFill>
                  <a:srgbClr val="1E293B"/>
                </a:solidFill>
                <a:latin typeface="Calibri"/>
              </a:defRPr>
            </a:pPr>
            <a:r>
              <a:t>Existing solutions address access control (ABAC), differential privacy, injection filtering, or inference detection in isolated silos. No open-source proxy framework combines all four into a single query-time pipeline with formal sequential composition guarantees.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  <a:defRPr sz="1300" b="1" i="0">
                <a:solidFill>
                  <a:srgbClr val="0F2B5C"/>
                </a:solidFill>
                <a:latin typeface="Calibri"/>
              </a:defRPr>
            </a:pPr>
            <a:r>
              <a:t>• O1: Risk-to-ε Coupling Law Formulation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Define and implement the dynamic coupling law: ε_eff(u, q) = max(ε_min, ε_role · (1 - r(u, q))^γ), and prove it maintains a valid (ε, δ) bound under sequential composition.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0F2B5C"/>
                </a:solidFill>
                <a:latin typeface="Calibri"/>
              </a:defRPr>
            </a:pPr>
            <a:r>
              <a:t>• O2: Non-Leaking Graceful Degradation Schedule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Design and integrate a graceful degradation engine that replaces query denial with monotonically increasing Laplace noise as the session budget approaches zero or triangulation risk spikes.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0F2B5C"/>
                </a:solidFill>
                <a:latin typeface="Calibri"/>
              </a:defRPr>
            </a:pPr>
            <a:r>
              <a:t>• O3: Unified 8-Stage Pipeline Specification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Construct a unified query-time pipeline (ABAC Budget → AST Injection Filter → Predicate Extraction → Live Triangulation Risk Assessment → Dynamic DP Coupling → PostgreSQL Execution → Composed Audit Store).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0F2B5C"/>
                </a:solidFill>
                <a:latin typeface="Calibri"/>
              </a:defRPr>
            </a:pPr>
            <a:r>
              <a:t>• O4: Comprehensive Experimental Evaluation</a:t>
            </a:r>
          </a:p>
          <a:p>
            <a:pPr>
              <a:spcAft>
                <a:spcPts val="5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Benchmark AP3 against static-per-role and hard-threshold baselines across: (1) privacy-utility trade-off curves, (2) targeted triangulation attack suppression, (3) denial leakage elimination, and (4) proxy middleware latency overhead.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  <a:defRPr sz="1000" b="1" i="0">
                <a:solidFill>
                  <a:srgbClr val="0F2B5C"/>
                </a:solidFill>
                <a:latin typeface="Calibri"/>
              </a:defRPr>
            </a:pPr>
            <a:r>
              <a:t>Identified SDGs: SDG 9 (Industry, Innovation &amp; Infrastructure) &amp; SDG 16 (Peace, Justice &amp; Strong Institutions)</a:t>
            </a:r>
            <a:br/>
            <a:r>
              <a:t>Expected Outcomes: Research Paper (Scopus Indexed Conference / Journal) | Technology Readiness Level: TRL 3 (Proof of Concept)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2B5C"/>
                </a:solidFill>
                <a:latin typeface="Calibri"/>
              </a:defRPr>
            </a:pPr>
            <a:r>
              <a:t>AP3 Five-Layer Architecture &amp; End-to-End Enforcement Pipeline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4572000"/>
              </a:tblGrid>
              <a:tr h="716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Components &amp; Modules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Responsibilities &amp; Workflow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Layer 1: Interface &amp; Telemetry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web/index.html &amp; core/swagger_theme.py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telemetry dashboard with animated risk gauges, 1-click guided tour, and custom dark-mode Swagger API explorer at /docs.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Layer 2: Gateway &amp; Proxy 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middleware/proxy.py &amp; main.py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FastAPI middleware intercepting incoming queries, orchestrating session context, error handling, and structured response metadata formatting.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Layer 3: Security &amp; Intelligence 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core/query_analyzer.py</a:t>
                      </a:r>
                      <a:br/>
                      <a:r>
                        <a:t>core/inference_tracker.py</a:t>
                      </a:r>
                      <a:br/>
                      <a:r>
                        <a:t>core/abac.py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AST Parsing: Extracts tables, columns, aggregates &amp; WHERE predicates.</a:t>
                      </a:r>
                      <a:br/>
                      <a:r>
                        <a:t>• Injection Guard: Blocks multi-statement and tautology attacks.</a:t>
                      </a:r>
                      <a:br/>
                      <a:r>
                        <a:t>• Triangulation Engine: Evaluates subpopulation overlap &amp; time decay r(u, q).</a:t>
                      </a:r>
                      <a:br/>
                      <a:r>
                        <a:t>• ABAC Manager: Enforces role limits (Admin 20, Researcher 10, Guest 2).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Layer 4: DP Engine &amp; DB Connector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core/differential_privacy.py</a:t>
                      </a:r>
                      <a:br/>
                      <a:r>
                        <a:t>db/postgres.py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Dynamic Coupling: ε_eff = ε_role · (1 - r)^γ and noise scale b = Δf / ε_eff.</a:t>
                      </a:r>
                      <a:br/>
                      <a:r>
                        <a:t>• Graceful Degradation: Monotonically clamps to ε_min = 0.05 on risk/depletion.</a:t>
                      </a:r>
                      <a:br/>
                      <a:r>
                        <a:t>• DB Execution: Queries PostgreSQL via psycopg2 and applies Laplace DP.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Layer 5: Persistence &amp; Audit Store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db/history_store.py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SQLite query history recording query text, normalized predicates, risk scores r(u, q), consumed ε_eff, and precise timestamps for temporal decay.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FR1: SQL AST Tokenization &amp; Predicate Extraction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The proxy must parse incoming SQL into AST tokens using sqlparse, extracting target tables, projection columns, aggregate functions (COUNT, AVG, SUM, MIN, MAX), and normalized WHERE predicates.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FR2: SQL Injection &amp; Piggyback Defense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The proxy must evaluate statements against multi-statement patterns, tautology injections ('1'='1'), and union injections, rejecting malicious queries with HTTP 403 before database execution.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FR3: Continuous Triangulation Risk Assessment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The system must compute pairwise query similarity using table match S_table, column Jaccard J_c, and predicate overlap J_p, weighted with exponential time decay e^(-λΔt), producing a bounded risk signal r(u, q) in [0, 1).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FR4: Dynamic Risk-to-ε Coupling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The proxy must dynamically scale query privacy budget via ε_eff(u, q) = max(ε_min, ε_role · (1 - r(u, q))^γ), calibrating Laplace noise scale b = Δf / ε_eff.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FR5: Non-Leaking Graceful Degradation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When user session budget is exhausted or risk breaches threshold (r ≥ 0.85), the proxy must answer queries under maximum noise (ε_min = 0.05) with degraded_mode: true rather than denying execution.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FR6: Sequential Privacy Composition Accounting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The proxy must deduct actual consumed privacy loss ε_eff from the user's role budget (Admin: 20.0, Researcher: 10.0, Guest: 2.0) and persist full query metadata in SQLite.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FR7: Real-Time Transparency Telemetry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The proxy must return detailed audit metrics with every response, including risk_score, effective_epsilon, noise_scale, degraded_mode, and subpopulation_overlap diagnostics.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Module 1: Query Analyzer (core/query_analyzer.py)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Input: Raw SQL string | Output: QueryAnalysis object</a:t>
            </a:r>
            <a:br/>
            <a:r>
              <a:t>Functions: _detect_sql_injection(), _extract_tables(), _extract_columns(), _extract_predicates(), _compute_sensitivity(). Parses AST and extracts fine-grained subpopulation filter conditions.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Module 2: Inference &amp; Triangulation Tracker (core/inference_tracker.py)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Input: Username, tables, columns, predicates | Output: InferenceRisk object</a:t>
            </a:r>
            <a:br/>
            <a:r>
              <a:t>Functions: assess_inference_risk(), _compute_query_overlap(), _jaccard_similarity(). Computes subpopulation Jaccard overlap, evaluates exponential temporal decay e^(-λΔt), and yields r(u, q) in [0, 1).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Module 3: Differential Privacy Engine (core/differential_privacy.py)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Input: Aggregate rows, base budget, risk score | Output: Sanitized noised rows</a:t>
            </a:r>
            <a:br/>
            <a:r>
              <a:t>Functions: compute_effective_epsilon(), compute_noise_scale(), add_laplace_noise(), add_noise_to_resultset(). Calibrates noise b = Δf / ε_eff using diffprivlib Laplace mechanism.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Module 4: ABAC &amp; Budget Manager (core/abac.py)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Input: User model, consumed epsilon | Output: Updated User model</a:t>
            </a:r>
            <a:br/>
            <a:r>
              <a:t>Functions: get_initial_budget(), has_budget(), deduct_budget(). Deducts composed privacy loss and clamps budget to 0.0 under graceful degradation without throwing unhandled exceptions.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Module 5: Database &amp; Persistence Layer (db/postgres.py &amp; db/history_store.py)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Functions: execute_query() (PostgreSQL psycopg2 executor), record_query(), get_overlapping_queries(), get_user_history() (SQLite query history store persisting predicates, risk scores, and consumed ε_eff).</a:t>
            </a:r>
          </a:p>
          <a:p>
            <a:pPr>
              <a:spcAft>
                <a:spcPts val="100"/>
              </a:spcAft>
              <a:defRPr sz="1200" b="1" i="0">
                <a:solidFill>
                  <a:srgbClr val="0F2B5C"/>
                </a:solidFill>
                <a:latin typeface="Calibri"/>
              </a:defRPr>
            </a:pPr>
            <a:r>
              <a:t>• Module 6: Interactive Dashboard &amp; Guided Explorer (web/index.html &amp; core/swagger_theme.py)</a:t>
            </a:r>
          </a:p>
          <a:p>
            <a:pPr>
              <a:spcAft>
                <a:spcPts val="400"/>
              </a:spcAft>
              <a:defRPr sz="1050" b="0" i="0">
                <a:solidFill>
                  <a:srgbClr val="1E293B"/>
                </a:solidFill>
                <a:latin typeface="Calibri"/>
              </a:defRPr>
            </a:pPr>
            <a:r>
              <a:t>Functions: Visual dashboard at / with animated gauges for r(u, q), ε_eff, and noise scale; custom dark-mode Swagger UI at /docs with an interactive 4-step first-time explorer ribbon.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0F2B5C"/>
                </a:solidFill>
                <a:latin typeface="Calibri"/>
              </a:defRPr>
            </a:pPr>
            <a:r>
              <a:t>Empirical Evaluation Benchmarks &amp; Attack Simulation Results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01168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Adversarial Probe Step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Base ε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Error (Denial)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AP3 Risk r(u,q) &amp; ε_eff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AP3 Error &amp; Protection</a:t>
                      </a:r>
                    </a:p>
                  </a:txBody>
                  <a:tcPr>
                    <a:solidFill>
                      <a:srgbClr val="0F2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Probe 1 (Broad: Dept AVG)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11.13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 = 0.0000 | ε_eff = 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0.99 (High utility)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Probe 2 (Narrow: Salary ≥ 110k)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 = 0.2173 | ε_eff = 0.6126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1.11 (Coupled 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Probe 3 (Narrow: Salary 110-120k)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9.39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 = 0.4484 | ε_eff = 0.3043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5.40 (Noise escalated)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Probe 4 (Target: Alice)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 = 0.5261 | ε_eff = 0.2246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47.22 (Attack suppressed)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Probe 5 (Target + ID isolate)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BLOCKED (429 Denial Leak)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 = 0.5951 | ε_eff = 0.1639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0.44 (Active protection)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Probe 6 (Post-threshold probe)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BLOCKED (429 Denial Leak)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 = 0.7468 | ε_eff = 0.0641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0" i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Err: 19.75 (Graceful degradation)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0F2B5C"/>
                          </a:solidFill>
                          <a:latin typeface="Calibri"/>
                        </a:defRPr>
                      </a:pPr>
                      <a:r>
                        <a:t>Overhead Benchmark (100 runs)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0F2B5C"/>
                          </a:solidFill>
                          <a:latin typeface="Calibri"/>
                        </a:defRPr>
                      </a:pPr>
                      <a:r>
                        <a:t>Target: &lt; 15.0 ms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0F2B5C"/>
                          </a:solidFill>
                          <a:latin typeface="Calibri"/>
                        </a:defRPr>
                      </a:pPr>
                      <a:r>
                        <a:t>AST: 1.55ms | Risk: 1.01ms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0F2B5C"/>
                          </a:solidFill>
                          <a:latin typeface="Calibri"/>
                        </a:defRPr>
                      </a:pPr>
                      <a:r>
                        <a:t>DP Noise: 0.04 ms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50" b="1" i="0">
                          <a:solidFill>
                            <a:srgbClr val="0F2B5C"/>
                          </a:solidFill>
                          <a:latin typeface="Calibri"/>
                        </a:defRPr>
                      </a:pPr>
                      <a:r>
                        <a:t>TOTAL OVERHEAD: 2.598 ms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Review 2 Deliverables &amp; Accomplishments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• Full System Realization: Engineered the complete AP3 risk-adaptive differential privacy proxy over PostgreSQL.</a:t>
            </a:r>
            <a:br/>
            <a:r>
              <a:t>• Live Coupling Law: Successfully implemented and empirically verified ε_eff = ε_role · (1 - r)^γ, eliminating static budget rigidity.</a:t>
            </a:r>
            <a:br/>
            <a:r>
              <a:t>• Elimination of Denial Leakage: Designed and proven non-leaking graceful degradation schedule, replacing query denial with monotonically increasing noise.</a:t>
            </a:r>
            <a:br/>
            <a:r>
              <a:t>• Ultra-Low Performance Overhead: Achieved 2.598 ms middleware latency, well under the 15 ms production threshold.</a:t>
            </a:r>
            <a:br/>
            <a:r>
              <a:t>• Interactive Usability: Deployed an interactive telemetry playground UI and guided dark-mode Swagger interface.</a:t>
            </a:r>
          </a:p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Technology Readiness Level (TRL)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• Achieved TRL 3 (Experimental Proof of Concept): Analytical and experimental proof of critical functions validated in representative test environments.</a:t>
            </a:r>
          </a:p>
          <a:p>
            <a:pPr>
              <a:spcAft>
                <a:spcPts val="200"/>
              </a:spcAft>
              <a:defRPr sz="1350" b="1" i="0">
                <a:solidFill>
                  <a:srgbClr val="0F2B5C"/>
                </a:solidFill>
                <a:latin typeface="Calibri"/>
              </a:defRPr>
            </a:pPr>
            <a:r>
              <a:t>• Roadmap Towards Review 3 &amp; Final Submission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• Formal Privacy Accounting: Integrating Rényi Differential Privacy (RDP) and Gaussian mechanisms for multi-query tighter composition.</a:t>
            </a:r>
            <a:br/>
            <a:r>
              <a:t>• Complex Schema Support: Extending subpopulation tracking to multi-table foreign key JOIN operations.</a:t>
            </a:r>
            <a:br/>
            <a:r>
              <a:t>• Publication: Preparing manuscript for Scopus-indexed conference / journal publication.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None/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[1] V. Madhusudhanan et al., "PRiDe: Contextual Adaptive Differential Privacy with Access Control for Digital Twins," ACM Transactions on Intelligent Systems and Technology (TIST), vol. 17, no. 2, pp. 1-24, 2026.</a:t>
            </a:r>
          </a:p>
          <a:p>
            <a:pPr>
              <a:spcAft>
                <a:spcPts val="7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[2] N. Cascio et al., "DP4SQL: Differentially Private SQL with Flexible and Policy-Driven Privacy Enforcement," Proceedings of the VLDB Endowment, vol. 19, no. 4, pp. 312-325, 2026.</a:t>
            </a:r>
          </a:p>
          <a:p>
            <a:pPr>
              <a:spcAft>
                <a:spcPts val="7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[3] A. Majeed et al., "Sensitivity-Aware, PSO-Driven Customized-Budget ε-Differential Privacy for High-Dimensional Data," IEEE Transactions on Knowledge and Data Engineering (TKDE), vol. 38, no. 1, pp. 112-127, 2026.</a:t>
            </a:r>
          </a:p>
          <a:p>
            <a:pPr>
              <a:spcAft>
                <a:spcPts val="7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[4] R. Guerra-Balboa et al., "Understanding Disclosure Risk in Differential Privacy: Reconstruction Advantage and Bound Tightness," IEEE Transactions on Information Forensics and Security, vol. 21, pp. 450-465, 2026.</a:t>
            </a:r>
          </a:p>
          <a:p>
            <a:pPr>
              <a:spcAft>
                <a:spcPts val="7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[5] X. Yu et al., "DOP-SQL: Down-Neighborhood Optimal Differentially Private SQL Execution on Relational Databases," Proceedings of the VLDB Endowment, vol. 17, no. 6, pp. 1380-1393, 2024.</a:t>
            </a:r>
          </a:p>
          <a:p>
            <a:pPr>
              <a:spcAft>
                <a:spcPts val="700"/>
              </a:spcAft>
              <a:defRPr sz="1100" b="0" i="0">
                <a:solidFill>
                  <a:srgbClr val="1E293B"/>
                </a:solidFill>
                <a:latin typeface="Calibri"/>
              </a:defRPr>
            </a:pPr>
            <a:r>
              <a:t>[6] K. Aljaedi, "Triggering Differential Privacy to Counter Data Triangulation and Inference Attacks in Statistical Databases," in Proc. IEEE International Conference on Computing and Information Technology (ICCIT), pp. 88-93, 2022.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