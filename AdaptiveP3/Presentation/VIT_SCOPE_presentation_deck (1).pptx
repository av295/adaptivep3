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357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17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programme, and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aim and the scope boundaries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AP3 and its positioning against the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foundational DP-SQL and adaptive-budget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inference-control and risk-adaptive access-control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four research gaps in order of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four objectives, SDG mapping, and expected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reference list retrieved via Consensus,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5509" y="253498"/>
            <a:ext cx="3509544" cy="19368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9253" y="2043037"/>
            <a:ext cx="8989495" cy="76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200" kern="0" spc="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· BESE497J – Project 1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515718" y="3147046"/>
            <a:ext cx="15256565" cy="1217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99845"/>
              </a:lnSpc>
              <a:buNone/>
            </a:pPr>
            <a:r>
              <a:rPr lang="en-US" sz="6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AP3: Adaptive Privacy-Preserving Proxy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2891373" y="4228610"/>
            <a:ext cx="12505254" cy="763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risk-adaptive differential-privacy proxy for SQL databases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193433" y="6779228"/>
            <a:ext cx="30198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056682" y="8829408"/>
            <a:ext cx="496882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 Verma – 23BCI0111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846505" y="8074920"/>
            <a:ext cx="517900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 Gattani – 23BCT0059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056682" y="7320432"/>
            <a:ext cx="5179004" cy="489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Lakshay Tuteja – 23BCT0118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2071084" y="6917340"/>
            <a:ext cx="4422894" cy="541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Guide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2140658" y="7529138"/>
            <a:ext cx="4422894" cy="319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Somasundaram S K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cs typeface="Arial" pitchFamily="34" charset="-120"/>
              </a:rPr>
              <a:t>SCOPE, VIT University, Vellore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671256" y="9705975"/>
            <a:ext cx="29454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Review 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27780"/>
            <a:ext cx="14133443" cy="980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86123" y="2037431"/>
            <a:ext cx="1589432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29231"/>
              </a:lnSpc>
              <a:buNone/>
            </a:pPr>
            <a:r>
              <a:rPr lang="en-US" sz="3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 and evaluate AP3, a middleware SQL proxy that couples a live inference-risk signal to differential-privacy budget consumption, replacing static per-role privacy budgets with a risk-adaptive control loop, so query answers degrade gracefully under rising triangulation risk instead of being denied outright.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22074" y="5544898"/>
            <a:ext cx="2973457" cy="654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43000" y="6231523"/>
            <a:ext cx="1687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42559" y="6187316"/>
            <a:ext cx="16478246" cy="733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Attribute-based access control (ABAC) enforcing per-role privacy budgets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6722061"/>
            <a:ext cx="1687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42559" y="6677855"/>
            <a:ext cx="16290506" cy="73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privacy via the Laplace mechanism on SQL aggregates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7212598"/>
            <a:ext cx="1687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42559" y="7168391"/>
            <a:ext cx="1580183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inference / triangulation-risk tracking across query history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143000" y="7703136"/>
            <a:ext cx="1687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42559" y="7658930"/>
            <a:ext cx="15801832" cy="5627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SQL-injection filtering as a secondary defense layer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43000" y="8193673"/>
            <a:ext cx="1687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12742" y="8184659"/>
            <a:ext cx="15702441" cy="448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algn="just"/>
            <a:r>
              <a:rPr lang="en-US" sz="2800" dirty="0">
                <a:solidFill>
                  <a:srgbClr val="23272B"/>
                </a:solidFill>
                <a:latin typeface="Arial" pitchFamily="34" charset="0"/>
                <a:cs typeface="Arial" pitchFamily="34" charset="-120"/>
              </a:rPr>
              <a:t>Target platform: PostgreSQL, evaluated on aggregate query workloads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9820275"/>
            <a:ext cx="1067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&amp; Scope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57200"/>
            <a:ext cx="18021300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52500" y="1652588"/>
            <a:ext cx="15893415" cy="61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just">
              <a:lnSpc>
                <a:spcPct val="133538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AP3 is a middleware proxy that intercepts SQL queries between a client and a PostgreSQL database, enforcing four security properties on every query: </a:t>
            </a:r>
          </a:p>
          <a:p>
            <a:pPr marL="800100" lvl="1" indent="-342900" algn="just">
              <a:lnSpc>
                <a:spcPct val="133538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 through per-role privacy budgets, differential privacy via the Laplace mechanism, inference-attack prevention through query-history tracking, and SQL-injection filtering. </a:t>
            </a:r>
          </a:p>
          <a:p>
            <a:pPr marL="342900" indent="-342900" algn="just">
              <a:lnSpc>
                <a:spcPct val="133538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pillar is well established in isolation, but their integration into one adaptive, query-time proxy, and specifically the coupling of a live inference-risk signal to DP budget consumption, remains a nearly empty frontier. </a:t>
            </a:r>
          </a:p>
          <a:p>
            <a:pPr marL="342900" indent="-342900" algn="just">
              <a:lnSpc>
                <a:spcPct val="133538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AP3 proposes a risk-to-ε coupling, non-leaking graceful degradation in place of denial, and a unified enforcement pipeline with a formal composition guarantee.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2500" y="8134136"/>
            <a:ext cx="386715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9134261"/>
            <a:ext cx="386715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8134136"/>
            <a:ext cx="3867150" cy="47625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8" name="Shape 6"/>
          <p:cNvSpPr/>
          <p:nvPr/>
        </p:nvSpPr>
        <p:spPr>
          <a:xfrm>
            <a:off x="4810125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9" name="Text 7"/>
          <p:cNvSpPr/>
          <p:nvPr/>
        </p:nvSpPr>
        <p:spPr>
          <a:xfrm>
            <a:off x="1021080" y="8334161"/>
            <a:ext cx="37299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21080" y="8705636"/>
            <a:ext cx="372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Per-role budgets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124450" y="8134136"/>
            <a:ext cx="386715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4450" y="9134261"/>
            <a:ext cx="386715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4450" y="8134136"/>
            <a:ext cx="3867150" cy="47625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4450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2075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6" name="Text 14"/>
          <p:cNvSpPr/>
          <p:nvPr/>
        </p:nvSpPr>
        <p:spPr>
          <a:xfrm>
            <a:off x="5193030" y="8330849"/>
            <a:ext cx="37299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Privacy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193030" y="8705636"/>
            <a:ext cx="372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Laplace on aggregates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296400" y="8134136"/>
            <a:ext cx="386715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296400" y="9134261"/>
            <a:ext cx="386715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6400" y="8134136"/>
            <a:ext cx="3867150" cy="47625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6400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2" name="Shape 20"/>
          <p:cNvSpPr/>
          <p:nvPr/>
        </p:nvSpPr>
        <p:spPr>
          <a:xfrm>
            <a:off x="13154025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3" name="Text 21"/>
          <p:cNvSpPr/>
          <p:nvPr/>
        </p:nvSpPr>
        <p:spPr>
          <a:xfrm>
            <a:off x="9364980" y="8330849"/>
            <a:ext cx="37299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Tracking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64980" y="8705636"/>
            <a:ext cx="37299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Query-history overlap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468350" y="8134136"/>
            <a:ext cx="386715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3468350" y="9134261"/>
            <a:ext cx="386715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7" name="Shape 25"/>
          <p:cNvSpPr/>
          <p:nvPr/>
        </p:nvSpPr>
        <p:spPr>
          <a:xfrm>
            <a:off x="13468350" y="8134136"/>
            <a:ext cx="3867150" cy="47625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68350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9" name="Shape 27"/>
          <p:cNvSpPr/>
          <p:nvPr/>
        </p:nvSpPr>
        <p:spPr>
          <a:xfrm>
            <a:off x="17325975" y="8134136"/>
            <a:ext cx="9525" cy="100965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0" name="Text 28"/>
          <p:cNvSpPr/>
          <p:nvPr/>
        </p:nvSpPr>
        <p:spPr>
          <a:xfrm>
            <a:off x="13536930" y="8330849"/>
            <a:ext cx="37299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Defense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3536930" y="8705636"/>
            <a:ext cx="3729990" cy="454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filtering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3" name="Text 31"/>
          <p:cNvSpPr/>
          <p:nvPr/>
        </p:nvSpPr>
        <p:spPr>
          <a:xfrm>
            <a:off x="952500" y="9820275"/>
            <a:ext cx="7050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839" y="1038226"/>
            <a:ext cx="1703732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Review: DP-SQL &amp; Adaptive Budgets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52500" y="2643188"/>
            <a:ext cx="327660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2776538"/>
            <a:ext cx="3070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29100" y="2643188"/>
            <a:ext cx="327660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4381500" y="2776538"/>
            <a:ext cx="3070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05700" y="2643188"/>
            <a:ext cx="393189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7658100" y="2776538"/>
            <a:ext cx="374504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7590" y="2643188"/>
            <a:ext cx="327660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11589990" y="2776538"/>
            <a:ext cx="3070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/ Cons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714190" y="2643188"/>
            <a:ext cx="262131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14866590" y="2776538"/>
            <a:ext cx="23951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52500" y="3148013"/>
            <a:ext cx="327660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39243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3281363"/>
            <a:ext cx="3070098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Cascio et al. (DP4SQL), 2026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9100" y="3148013"/>
            <a:ext cx="327660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9100" y="39243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8" name="Text 16"/>
          <p:cNvSpPr/>
          <p:nvPr/>
        </p:nvSpPr>
        <p:spPr>
          <a:xfrm>
            <a:off x="4381500" y="3281363"/>
            <a:ext cx="3070098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per-relation privacy policies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05700" y="3148013"/>
            <a:ext cx="393189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05700" y="3924300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1" name="Text 19"/>
          <p:cNvSpPr/>
          <p:nvPr/>
        </p:nvSpPr>
        <p:spPr>
          <a:xfrm>
            <a:off x="7658100" y="3281363"/>
            <a:ext cx="3745047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Policy-driven DP enforcement layer over SQL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7590" y="3148013"/>
            <a:ext cx="327660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590" y="39243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4" name="Text 22"/>
          <p:cNvSpPr/>
          <p:nvPr/>
        </p:nvSpPr>
        <p:spPr>
          <a:xfrm>
            <a:off x="11589990" y="3281363"/>
            <a:ext cx="3070098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Configurable per relation – No risk-adaptation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714190" y="3148013"/>
            <a:ext cx="262131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6" name="Shape 24"/>
          <p:cNvSpPr/>
          <p:nvPr/>
        </p:nvSpPr>
        <p:spPr>
          <a:xfrm>
            <a:off x="14714190" y="3924300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7" name="Text 25"/>
          <p:cNvSpPr/>
          <p:nvPr/>
        </p:nvSpPr>
        <p:spPr>
          <a:xfrm>
            <a:off x="14866590" y="3281363"/>
            <a:ext cx="2395149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DP-SQL engines keep maturing into 2026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2500" y="47148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40671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Majeed et al., IEEE TKDE 2026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29100" y="47148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1" name="Text 29"/>
          <p:cNvSpPr/>
          <p:nvPr/>
        </p:nvSpPr>
        <p:spPr>
          <a:xfrm>
            <a:off x="4381500" y="40671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Sensitivity-aware, PSO-driven 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05700" y="4714875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3" name="Text 31"/>
          <p:cNvSpPr/>
          <p:nvPr/>
        </p:nvSpPr>
        <p:spPr>
          <a:xfrm>
            <a:off x="7658100" y="4067175"/>
            <a:ext cx="37450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Per-record budget tuned by sensitivity class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37590" y="47148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33"/>
          <p:cNvSpPr/>
          <p:nvPr/>
        </p:nvSpPr>
        <p:spPr>
          <a:xfrm>
            <a:off x="11589990" y="40671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Fine-grained – Not query-time / not SQL-native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4714190" y="4714875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7" name="Text 35"/>
          <p:cNvSpPr/>
          <p:nvPr/>
        </p:nvSpPr>
        <p:spPr>
          <a:xfrm>
            <a:off x="14866590" y="4067175"/>
            <a:ext cx="2395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Risk-to-ε ideas emerging outside SQL proxies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52500" y="4724400"/>
            <a:ext cx="327660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576262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900" y="4857750"/>
            <a:ext cx="30700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 et al. (ADPFL), IEEE IoT-J 2025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29100" y="4724400"/>
            <a:ext cx="327660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42" name="Shape 40"/>
          <p:cNvSpPr/>
          <p:nvPr/>
        </p:nvSpPr>
        <p:spPr>
          <a:xfrm>
            <a:off x="4229100" y="576262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3" name="Text 41"/>
          <p:cNvSpPr/>
          <p:nvPr/>
        </p:nvSpPr>
        <p:spPr>
          <a:xfrm>
            <a:off x="4381500" y="4857750"/>
            <a:ext cx="30700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federated budget adaptation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05700" y="4724400"/>
            <a:ext cx="393189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45" name="Shape 43"/>
          <p:cNvSpPr/>
          <p:nvPr/>
        </p:nvSpPr>
        <p:spPr>
          <a:xfrm>
            <a:off x="7505700" y="5762625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6" name="Text 44"/>
          <p:cNvSpPr/>
          <p:nvPr/>
        </p:nvSpPr>
        <p:spPr>
          <a:xfrm>
            <a:off x="7658100" y="4857750"/>
            <a:ext cx="37450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Per-round, per-layer ε tuning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437590" y="4724400"/>
            <a:ext cx="327660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7590" y="576262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9" name="Text 47"/>
          <p:cNvSpPr/>
          <p:nvPr/>
        </p:nvSpPr>
        <p:spPr>
          <a:xfrm>
            <a:off x="11589990" y="4857750"/>
            <a:ext cx="30700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Fine granularity – Not query-driven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4714190" y="4724400"/>
            <a:ext cx="262131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51" name="Shape 49"/>
          <p:cNvSpPr/>
          <p:nvPr/>
        </p:nvSpPr>
        <p:spPr>
          <a:xfrm>
            <a:off x="14714190" y="5762625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2" name="Text 50"/>
          <p:cNvSpPr/>
          <p:nvPr/>
        </p:nvSpPr>
        <p:spPr>
          <a:xfrm>
            <a:off x="14866590" y="4857750"/>
            <a:ext cx="23951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Adaptation machinery untransferred to SQL proxies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52500" y="65532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4" name="Text 52"/>
          <p:cNvSpPr/>
          <p:nvPr/>
        </p:nvSpPr>
        <p:spPr>
          <a:xfrm>
            <a:off x="1104900" y="5905500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 et al. (DOP-SQL), VLDB 2024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29100" y="65532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6" name="Text 54"/>
          <p:cNvSpPr/>
          <p:nvPr/>
        </p:nvSpPr>
        <p:spPr>
          <a:xfrm>
            <a:off x="4381500" y="5905500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Optimal-noise DP for SQL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05700" y="6553200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8" name="Text 56"/>
          <p:cNvSpPr/>
          <p:nvPr/>
        </p:nvSpPr>
        <p:spPr>
          <a:xfrm>
            <a:off x="7658100" y="5905500"/>
            <a:ext cx="37450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Down-neighborhood-optimal mechanisms on PostgreSQL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437590" y="65532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0" name="Text 58"/>
          <p:cNvSpPr/>
          <p:nvPr/>
        </p:nvSpPr>
        <p:spPr>
          <a:xfrm>
            <a:off x="11589990" y="5905500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Tighter noise bounds – Static budget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4714190" y="6553200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2" name="Text 60"/>
          <p:cNvSpPr/>
          <p:nvPr/>
        </p:nvSpPr>
        <p:spPr>
          <a:xfrm>
            <a:off x="14866590" y="5905500"/>
            <a:ext cx="2395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DP-SQL utility keeps improving, adaptivity lags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52500" y="6562725"/>
            <a:ext cx="327660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" y="73437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5" name="Text 63"/>
          <p:cNvSpPr/>
          <p:nvPr/>
        </p:nvSpPr>
        <p:spPr>
          <a:xfrm>
            <a:off x="1104900" y="66960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 et al., IEEE TIFS 2023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229100" y="6562725"/>
            <a:ext cx="327660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67" name="Shape 65"/>
          <p:cNvSpPr/>
          <p:nvPr/>
        </p:nvSpPr>
        <p:spPr>
          <a:xfrm>
            <a:off x="4229100" y="73437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8" name="Text 66"/>
          <p:cNvSpPr/>
          <p:nvPr/>
        </p:nvSpPr>
        <p:spPr>
          <a:xfrm>
            <a:off x="4381500" y="66960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DP budget allocation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505700" y="6562725"/>
            <a:ext cx="393189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70" name="Shape 68"/>
          <p:cNvSpPr/>
          <p:nvPr/>
        </p:nvSpPr>
        <p:spPr>
          <a:xfrm>
            <a:off x="7505700" y="7343775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1" name="Text 69"/>
          <p:cNvSpPr/>
          <p:nvPr/>
        </p:nvSpPr>
        <p:spPr>
          <a:xfrm>
            <a:off x="7658100" y="6696075"/>
            <a:ext cx="37450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optimisation across DL training rounds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437590" y="6562725"/>
            <a:ext cx="327660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73" name="Shape 71"/>
          <p:cNvSpPr/>
          <p:nvPr/>
        </p:nvSpPr>
        <p:spPr>
          <a:xfrm>
            <a:off x="11437590" y="73437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4" name="Text 72"/>
          <p:cNvSpPr/>
          <p:nvPr/>
        </p:nvSpPr>
        <p:spPr>
          <a:xfrm>
            <a:off x="11589990" y="66960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Adapts over time – ML setting only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4714190" y="6562725"/>
            <a:ext cx="262131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76" name="Shape 74"/>
          <p:cNvSpPr/>
          <p:nvPr/>
        </p:nvSpPr>
        <p:spPr>
          <a:xfrm>
            <a:off x="14714190" y="7343775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7" name="Text 75"/>
          <p:cNvSpPr/>
          <p:nvPr/>
        </p:nvSpPr>
        <p:spPr>
          <a:xfrm>
            <a:off x="14866590" y="6696075"/>
            <a:ext cx="2395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ε is mature for deep learning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9" name="Text 77"/>
          <p:cNvSpPr/>
          <p:nvPr/>
        </p:nvSpPr>
        <p:spPr>
          <a:xfrm>
            <a:off x="952500" y="9820275"/>
            <a:ext cx="19077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(1/2)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352" y="1066801"/>
            <a:ext cx="16898178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Review: Inference Control &amp; Risk-Adaptive Access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52500" y="2643188"/>
            <a:ext cx="327660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2776538"/>
            <a:ext cx="3070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229100" y="2643188"/>
            <a:ext cx="327660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4381500" y="2776538"/>
            <a:ext cx="3070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505700" y="2643188"/>
            <a:ext cx="393189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7658100" y="2776538"/>
            <a:ext cx="374504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7590" y="2643188"/>
            <a:ext cx="327660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11589990" y="2776538"/>
            <a:ext cx="30700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/ Cons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4714190" y="2643188"/>
            <a:ext cx="2621310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14866590" y="2776538"/>
            <a:ext cx="239514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52500" y="3148013"/>
            <a:ext cx="327660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39243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3281363"/>
            <a:ext cx="3070098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Guerra-Balboa et al., 2026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29100" y="3148013"/>
            <a:ext cx="327660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29100" y="39243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8" name="Text 16"/>
          <p:cNvSpPr/>
          <p:nvPr/>
        </p:nvSpPr>
        <p:spPr>
          <a:xfrm>
            <a:off x="4381500" y="3281363"/>
            <a:ext cx="3070098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Risk-driven noise calibration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05700" y="3148013"/>
            <a:ext cx="393189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05700" y="3924300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1" name="Text 19"/>
          <p:cNvSpPr/>
          <p:nvPr/>
        </p:nvSpPr>
        <p:spPr>
          <a:xfrm>
            <a:off x="7658100" y="3281363"/>
            <a:ext cx="3745047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“Reconstruction advantage” disclosure-risk metric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7590" y="3148013"/>
            <a:ext cx="327660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590" y="392430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4" name="Text 22"/>
          <p:cNvSpPr/>
          <p:nvPr/>
        </p:nvSpPr>
        <p:spPr>
          <a:xfrm>
            <a:off x="11589990" y="3281363"/>
            <a:ext cx="3070098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Rigorous risk metric – Not query-time / SQL-specific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714190" y="3148013"/>
            <a:ext cx="2621310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6" name="Shape 24"/>
          <p:cNvSpPr/>
          <p:nvPr/>
        </p:nvSpPr>
        <p:spPr>
          <a:xfrm>
            <a:off x="14714190" y="3924300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7" name="Text 25"/>
          <p:cNvSpPr/>
          <p:nvPr/>
        </p:nvSpPr>
        <p:spPr>
          <a:xfrm>
            <a:off x="14866590" y="3281363"/>
            <a:ext cx="2395149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tools now exist to define r(u,q)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52500" y="47148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" y="40671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Madhusudhanan et al. (PRiDe), ACM TIST 2026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29100" y="47148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1" name="Text 29"/>
          <p:cNvSpPr/>
          <p:nvPr/>
        </p:nvSpPr>
        <p:spPr>
          <a:xfrm>
            <a:off x="4381500" y="40671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adaptive DP with access control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05700" y="4714875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3" name="Text 31"/>
          <p:cNvSpPr/>
          <p:nvPr/>
        </p:nvSpPr>
        <p:spPr>
          <a:xfrm>
            <a:off x="7658100" y="4067175"/>
            <a:ext cx="37450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 and budget-based query gating for digital twins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37590" y="47148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33"/>
          <p:cNvSpPr/>
          <p:nvPr/>
        </p:nvSpPr>
        <p:spPr>
          <a:xfrm>
            <a:off x="11589990" y="406717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Couples risk to ABAC – IoT/digital-twin domain, not SQL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4714190" y="4714875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7" name="Text 35"/>
          <p:cNvSpPr/>
          <p:nvPr/>
        </p:nvSpPr>
        <p:spPr>
          <a:xfrm>
            <a:off x="14866590" y="4067175"/>
            <a:ext cx="2395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2026 analogue outside relational DBs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52500" y="4724400"/>
            <a:ext cx="327660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39" name="Shape 37"/>
          <p:cNvSpPr/>
          <p:nvPr/>
        </p:nvSpPr>
        <p:spPr>
          <a:xfrm>
            <a:off x="952500" y="550545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900" y="4857750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Alghamdi (PrivLLM-Guard), Sci. Reports 2026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229100" y="4724400"/>
            <a:ext cx="327660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42" name="Shape 40"/>
          <p:cNvSpPr/>
          <p:nvPr/>
        </p:nvSpPr>
        <p:spPr>
          <a:xfrm>
            <a:off x="4229100" y="550545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3" name="Text 41"/>
          <p:cNvSpPr/>
          <p:nvPr/>
        </p:nvSpPr>
        <p:spPr>
          <a:xfrm>
            <a:off x="4381500" y="4857750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Risk-score-driven noise calibration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505700" y="4724400"/>
            <a:ext cx="393189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45" name="Shape 43"/>
          <p:cNvSpPr/>
          <p:nvPr/>
        </p:nvSpPr>
        <p:spPr>
          <a:xfrm>
            <a:off x="7505700" y="5505450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6" name="Text 44"/>
          <p:cNvSpPr/>
          <p:nvPr/>
        </p:nvSpPr>
        <p:spPr>
          <a:xfrm>
            <a:off x="7658100" y="4857750"/>
            <a:ext cx="37450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budgeting with live auditing for clinical LLMs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437590" y="4724400"/>
            <a:ext cx="327660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7590" y="5505450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9" name="Text 47"/>
          <p:cNvSpPr/>
          <p:nvPr/>
        </p:nvSpPr>
        <p:spPr>
          <a:xfrm>
            <a:off x="11589990" y="4857750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Live risk scoring – Targets LLMs, not SQL proxies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4714190" y="4724400"/>
            <a:ext cx="2621310" cy="790575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51" name="Shape 49"/>
          <p:cNvSpPr/>
          <p:nvPr/>
        </p:nvSpPr>
        <p:spPr>
          <a:xfrm>
            <a:off x="14714190" y="5505450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2" name="Text 50"/>
          <p:cNvSpPr/>
          <p:nvPr/>
        </p:nvSpPr>
        <p:spPr>
          <a:xfrm>
            <a:off x="14866590" y="4857750"/>
            <a:ext cx="2395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risk-to-ε idea outside SQL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952500" y="629602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4" name="Text 52"/>
          <p:cNvSpPr/>
          <p:nvPr/>
        </p:nvSpPr>
        <p:spPr>
          <a:xfrm>
            <a:off x="1104900" y="564832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Wu, ICECET 2025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229100" y="629602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6" name="Text 54"/>
          <p:cNvSpPr/>
          <p:nvPr/>
        </p:nvSpPr>
        <p:spPr>
          <a:xfrm>
            <a:off x="4381500" y="564832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Query-adaptive privacy budget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7505700" y="6296025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8" name="Text 56"/>
          <p:cNvSpPr/>
          <p:nvPr/>
        </p:nvSpPr>
        <p:spPr>
          <a:xfrm>
            <a:off x="7658100" y="5648325"/>
            <a:ext cx="374504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Domain/sensitivity/risk-based allocation for chatbots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1437590" y="629602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0" name="Text 58"/>
          <p:cNvSpPr/>
          <p:nvPr/>
        </p:nvSpPr>
        <p:spPr>
          <a:xfrm>
            <a:off x="11589990" y="5648325"/>
            <a:ext cx="307009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Adaptive by query – Chatbot turns, not relational SQL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4714190" y="6296025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2" name="Text 60"/>
          <p:cNvSpPr/>
          <p:nvPr/>
        </p:nvSpPr>
        <p:spPr>
          <a:xfrm>
            <a:off x="14866590" y="5648325"/>
            <a:ext cx="2395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Uncited; adjacent domain, not a general proxy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952500" y="6305550"/>
            <a:ext cx="327660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" y="73437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5" name="Text 63"/>
          <p:cNvSpPr/>
          <p:nvPr/>
        </p:nvSpPr>
        <p:spPr>
          <a:xfrm>
            <a:off x="1104900" y="6438900"/>
            <a:ext cx="30700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Aljaedi, ICCIT 2022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4229100" y="6305550"/>
            <a:ext cx="327660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67" name="Shape 65"/>
          <p:cNvSpPr/>
          <p:nvPr/>
        </p:nvSpPr>
        <p:spPr>
          <a:xfrm>
            <a:off x="4229100" y="73437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68" name="Text 66"/>
          <p:cNvSpPr/>
          <p:nvPr/>
        </p:nvSpPr>
        <p:spPr>
          <a:xfrm>
            <a:off x="4381500" y="6438900"/>
            <a:ext cx="30700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triggered by inference risk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7505700" y="6305550"/>
            <a:ext cx="393189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70" name="Shape 68"/>
          <p:cNvSpPr/>
          <p:nvPr/>
        </p:nvSpPr>
        <p:spPr>
          <a:xfrm>
            <a:off x="7505700" y="7343775"/>
            <a:ext cx="393189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1" name="Text 69"/>
          <p:cNvSpPr/>
          <p:nvPr/>
        </p:nvSpPr>
        <p:spPr>
          <a:xfrm>
            <a:off x="7658100" y="6438900"/>
            <a:ext cx="37450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inference risk, invokes DP as response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1437590" y="6305550"/>
            <a:ext cx="327660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73" name="Shape 71"/>
          <p:cNvSpPr/>
          <p:nvPr/>
        </p:nvSpPr>
        <p:spPr>
          <a:xfrm>
            <a:off x="11437590" y="7343775"/>
            <a:ext cx="32766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4" name="Text 72"/>
          <p:cNvSpPr/>
          <p:nvPr/>
        </p:nvSpPr>
        <p:spPr>
          <a:xfrm>
            <a:off x="11589990" y="6438900"/>
            <a:ext cx="307009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Closest conceptual match – Single mechanism, no ABAC/budgets</a:t>
            </a: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14714190" y="6305550"/>
            <a:ext cx="2621310" cy="104775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76" name="Shape 74"/>
          <p:cNvSpPr/>
          <p:nvPr/>
        </p:nvSpPr>
        <p:spPr>
          <a:xfrm>
            <a:off x="14714190" y="7343775"/>
            <a:ext cx="262131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7" name="Text 75"/>
          <p:cNvSpPr/>
          <p:nvPr/>
        </p:nvSpPr>
        <p:spPr>
          <a:xfrm>
            <a:off x="14866590" y="6438900"/>
            <a:ext cx="23951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paper; not a full framework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79" name="Text 77"/>
          <p:cNvSpPr/>
          <p:nvPr/>
        </p:nvSpPr>
        <p:spPr>
          <a:xfrm>
            <a:off x="952500" y="9820275"/>
            <a:ext cx="19077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(2/2)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81025"/>
            <a:ext cx="1802130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80285" y="1807371"/>
            <a:ext cx="16132534" cy="963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2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AP3’s three privacy pillars are each mature in isolation; their integration into one adaptive, query-time proxy is a nearly empty frontier, occupied only by a handful of uncited 2025–2026 papers.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27885" y="3326011"/>
            <a:ext cx="982935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1080285" y="3459361"/>
            <a:ext cx="7543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910820" y="3326011"/>
            <a:ext cx="4259535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063220" y="3459361"/>
            <a:ext cx="408252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170356" y="3326011"/>
            <a:ext cx="11140529" cy="504825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6322756" y="3459361"/>
            <a:ext cx="1116994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open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7885" y="3830836"/>
            <a:ext cx="982935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1" name="Shape 9"/>
          <p:cNvSpPr/>
          <p:nvPr/>
        </p:nvSpPr>
        <p:spPr>
          <a:xfrm>
            <a:off x="927885" y="4607124"/>
            <a:ext cx="9829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2" name="Text 10"/>
          <p:cNvSpPr/>
          <p:nvPr/>
        </p:nvSpPr>
        <p:spPr>
          <a:xfrm>
            <a:off x="1080285" y="3964186"/>
            <a:ext cx="754335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910820" y="3830836"/>
            <a:ext cx="4259535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0820" y="4607124"/>
            <a:ext cx="42595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5" name="Text 13"/>
          <p:cNvSpPr/>
          <p:nvPr/>
        </p:nvSpPr>
        <p:spPr>
          <a:xfrm>
            <a:off x="2063220" y="3964186"/>
            <a:ext cx="4082521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Risk-adaptive 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70356" y="3830836"/>
            <a:ext cx="11140529" cy="785813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0356" y="4607124"/>
            <a:ext cx="11140529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322756" y="3964186"/>
            <a:ext cx="11169945" cy="5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/ budget as a function of live inference risk, not a static per-role constant; only two uncited 2025–2026 papers gesture at it, neither for a general SQL proxy.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27885" y="5397699"/>
            <a:ext cx="9829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0" name="Text 18"/>
          <p:cNvSpPr/>
          <p:nvPr/>
        </p:nvSpPr>
        <p:spPr>
          <a:xfrm>
            <a:off x="1080285" y="4749999"/>
            <a:ext cx="75433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910820" y="5397699"/>
            <a:ext cx="42595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2" name="Text 20"/>
          <p:cNvSpPr/>
          <p:nvPr/>
        </p:nvSpPr>
        <p:spPr>
          <a:xfrm>
            <a:off x="2063220" y="4749999"/>
            <a:ext cx="408252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four-pillar proxy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0356" y="5397699"/>
            <a:ext cx="11140529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4" name="Text 22"/>
          <p:cNvSpPr/>
          <p:nvPr/>
        </p:nvSpPr>
        <p:spPr>
          <a:xfrm>
            <a:off x="6322756" y="4749999"/>
            <a:ext cx="111699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ABAC + DP + inference tracking + injection defense as one query-time pipeline with formal guarantees; no existing work integrates all four.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7885" y="5407224"/>
            <a:ext cx="982935" cy="53340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885" y="5931099"/>
            <a:ext cx="9829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7" name="Text 25"/>
          <p:cNvSpPr/>
          <p:nvPr/>
        </p:nvSpPr>
        <p:spPr>
          <a:xfrm>
            <a:off x="1080285" y="5540574"/>
            <a:ext cx="75433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910820" y="5407224"/>
            <a:ext cx="4259535" cy="53340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0820" y="5931099"/>
            <a:ext cx="42595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0" name="Text 28"/>
          <p:cNvSpPr/>
          <p:nvPr/>
        </p:nvSpPr>
        <p:spPr>
          <a:xfrm>
            <a:off x="2063220" y="5540574"/>
            <a:ext cx="408252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 vs. denial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0356" y="5407224"/>
            <a:ext cx="11140529" cy="533400"/>
          </a:xfrm>
          <a:prstGeom prst="rect">
            <a:avLst/>
          </a:prstGeom>
          <a:solidFill>
            <a:srgbClr val="F2F5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170356" y="5931099"/>
            <a:ext cx="11140529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3" name="Text 31"/>
          <p:cNvSpPr/>
          <p:nvPr/>
        </p:nvSpPr>
        <p:spPr>
          <a:xfrm>
            <a:off x="6322756" y="5540574"/>
            <a:ext cx="111699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Degrading to more noise instead of denying when budget is exhausted, with proof the degradation itself does not leak.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27885" y="6721674"/>
            <a:ext cx="9829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33"/>
          <p:cNvSpPr/>
          <p:nvPr/>
        </p:nvSpPr>
        <p:spPr>
          <a:xfrm>
            <a:off x="1080285" y="6073974"/>
            <a:ext cx="75433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910820" y="6721674"/>
            <a:ext cx="4259535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7" name="Text 35"/>
          <p:cNvSpPr/>
          <p:nvPr/>
        </p:nvSpPr>
        <p:spPr>
          <a:xfrm>
            <a:off x="2063220" y="6073974"/>
            <a:ext cx="408252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Formalised triangulation signal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170356" y="6721674"/>
            <a:ext cx="11140529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9" name="Text 37"/>
          <p:cNvSpPr/>
          <p:nvPr/>
        </p:nvSpPr>
        <p:spPr>
          <a:xfrm>
            <a:off x="6322756" y="6073974"/>
            <a:ext cx="1116994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tracking as a composable DP-accounting signal over overlapping subpopulations, not a heuristic overlap-count threshold.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41" name="Text 39"/>
          <p:cNvSpPr/>
          <p:nvPr/>
        </p:nvSpPr>
        <p:spPr>
          <a:xfrm>
            <a:off x="952500" y="9820275"/>
            <a:ext cx="11816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129146"/>
            <a:ext cx="17226170" cy="950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88144" y="2326597"/>
            <a:ext cx="876300" cy="495556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4" name="Text 2"/>
          <p:cNvSpPr/>
          <p:nvPr/>
        </p:nvSpPr>
        <p:spPr>
          <a:xfrm>
            <a:off x="1140544" y="2402797"/>
            <a:ext cx="571500" cy="4193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54946" y="2436382"/>
            <a:ext cx="15751865" cy="48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risk-to-ε coupling, ε</a:t>
            </a:r>
            <a:r>
              <a:rPr lang="en-US" sz="2000" baseline="-400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</a:t>
            </a:r>
            <a:r>
              <a:rPr lang="en-US" sz="2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(u,q) = ε</a:t>
            </a:r>
            <a:r>
              <a:rPr lang="en-US" sz="2000" baseline="-400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r>
              <a:rPr lang="en-US" sz="2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·(1−r(u,q))</a:t>
            </a:r>
            <a:r>
              <a:rPr lang="en-US" sz="2000" baseline="300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</a:t>
            </a:r>
            <a:r>
              <a:rPr lang="en-US" sz="2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prove it preserves a valid (ε,δ) bound under sequential composition.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8145" y="3201439"/>
            <a:ext cx="876300" cy="550069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7" name="Text 5"/>
          <p:cNvSpPr/>
          <p:nvPr/>
        </p:nvSpPr>
        <p:spPr>
          <a:xfrm>
            <a:off x="1140545" y="3277639"/>
            <a:ext cx="571500" cy="4738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54945" y="3078804"/>
            <a:ext cx="15470324" cy="550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non-leaking graceful-degradation schedule that replaces query denial with monotonically increasing noise as the budget approaches zero.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88146" y="4130794"/>
            <a:ext cx="876300" cy="628943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10" name="Text 8"/>
          <p:cNvSpPr/>
          <p:nvPr/>
        </p:nvSpPr>
        <p:spPr>
          <a:xfrm>
            <a:off x="1140546" y="4206994"/>
            <a:ext cx="571500" cy="552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1F4E79"/>
                </a:solidFill>
                <a:latin typeface="Arial" pitchFamily="34" charset="0"/>
                <a:cs typeface="Arial" pitchFamily="34" charset="-120"/>
              </a:rPr>
              <a:t>O3</a:t>
            </a:r>
          </a:p>
        </p:txBody>
      </p:sp>
      <p:sp>
        <p:nvSpPr>
          <p:cNvPr id="11" name="Text 9"/>
          <p:cNvSpPr/>
          <p:nvPr/>
        </p:nvSpPr>
        <p:spPr>
          <a:xfrm>
            <a:off x="2054946" y="4071787"/>
            <a:ext cx="15470323" cy="679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a unified ABAC → injection-filter → triangulation-assessment → risk-adaptive DP pipeline with a session-level composition theorem.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88147" y="5023497"/>
            <a:ext cx="876300" cy="656298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0547" y="5099697"/>
            <a:ext cx="571500" cy="580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4946" y="5042545"/>
            <a:ext cx="154703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buNone/>
            </a:pPr>
            <a:r>
              <a:rPr lang="en-US" sz="22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on privacy–utility frontier, attack simulation, denial-leakage, and overhead benchmarks against static-per-role and hard-threshold baselines.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7159" y="6314988"/>
            <a:ext cx="10920093" cy="528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Sustainable Development Goals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267070" y="6797199"/>
            <a:ext cx="7131435" cy="950504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19" name="Text 17"/>
          <p:cNvSpPr/>
          <p:nvPr/>
        </p:nvSpPr>
        <p:spPr>
          <a:xfrm>
            <a:off x="9457571" y="6873399"/>
            <a:ext cx="6683580" cy="67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16 – Peace, Justice &amp; Strong Institutions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823355" y="8119942"/>
            <a:ext cx="2927661" cy="426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228200" y="8483440"/>
            <a:ext cx="7164819" cy="941259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22" name="Text 20"/>
          <p:cNvSpPr/>
          <p:nvPr/>
        </p:nvSpPr>
        <p:spPr>
          <a:xfrm>
            <a:off x="1301800" y="8635256"/>
            <a:ext cx="5970773" cy="665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 (Conference / Journal – Scopus)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09577" y="8143418"/>
            <a:ext cx="4692692" cy="5017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Readiness Level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267069" y="8555975"/>
            <a:ext cx="7131435" cy="868725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25" name="Text 23"/>
          <p:cNvSpPr/>
          <p:nvPr/>
        </p:nvSpPr>
        <p:spPr>
          <a:xfrm>
            <a:off x="9457569" y="8778498"/>
            <a:ext cx="6796709" cy="479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3 – Experimental Proof of Concept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27" name="Text 25"/>
          <p:cNvSpPr/>
          <p:nvPr/>
        </p:nvSpPr>
        <p:spPr>
          <a:xfrm>
            <a:off x="952500" y="9820275"/>
            <a:ext cx="87667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7</a:t>
            </a:r>
            <a:endParaRPr lang="en-US" sz="135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628340F5-8493-7DB1-7F12-186FB4FB2BDA}"/>
              </a:ext>
            </a:extLst>
          </p:cNvPr>
          <p:cNvSpPr/>
          <p:nvPr/>
        </p:nvSpPr>
        <p:spPr>
          <a:xfrm>
            <a:off x="1261585" y="6806377"/>
            <a:ext cx="7131435" cy="950504"/>
          </a:xfrm>
          <a:prstGeom prst="roundRect">
            <a:avLst>
              <a:gd name="adj" fmla="val 14634"/>
            </a:avLst>
          </a:prstGeom>
          <a:solidFill>
            <a:srgbClr val="D9E2F3"/>
          </a:solidFill>
          <a:ln/>
        </p:spPr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A339FB62-961B-C037-84EB-88FEDFBE7673}"/>
              </a:ext>
            </a:extLst>
          </p:cNvPr>
          <p:cNvSpPr/>
          <p:nvPr/>
        </p:nvSpPr>
        <p:spPr>
          <a:xfrm>
            <a:off x="1455508" y="6882577"/>
            <a:ext cx="6683580" cy="67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 – Industry, Innovation &amp;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952500" y="1366838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Madhusudhanan et al., “PRiDe: Contextual Adaptive DP with Access Control,” ACM TIST.</a:t>
            </a:r>
            <a:endParaRPr lang="en-US" sz="1088" dirty="0"/>
          </a:p>
        </p:txBody>
      </p:sp>
      <p:sp>
        <p:nvSpPr>
          <p:cNvPr id="4" name="Text 2"/>
          <p:cNvSpPr/>
          <p:nvPr/>
        </p:nvSpPr>
        <p:spPr>
          <a:xfrm>
            <a:off x="6540475" y="1366838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Lu et al., “Data Privacy &amp; Access Control in Cross-Domain Cloud (RBAC/ABAC+DP).”</a:t>
            </a:r>
            <a:endParaRPr lang="en-US" sz="1088" dirty="0"/>
          </a:p>
        </p:txBody>
      </p:sp>
      <p:sp>
        <p:nvSpPr>
          <p:cNvPr id="5" name="Text 3"/>
          <p:cNvSpPr/>
          <p:nvPr/>
        </p:nvSpPr>
        <p:spPr>
          <a:xfrm>
            <a:off x="12128450" y="1366838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Cascio et al., “DP4SQL: Differentially Private SQL with Flexible Privacy Policies.”</a:t>
            </a:r>
            <a:endParaRPr lang="en-US" sz="1088" dirty="0"/>
          </a:p>
        </p:txBody>
      </p:sp>
      <p:sp>
        <p:nvSpPr>
          <p:cNvPr id="6" name="Text 4"/>
          <p:cNvSpPr/>
          <p:nvPr/>
        </p:nvSpPr>
        <p:spPr>
          <a:xfrm>
            <a:off x="952500" y="1815852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Alghamdi, “PrivLLM-Guard: Adaptive DP with Context-Aware Noise Calibration,” Sci. Reports.</a:t>
            </a:r>
            <a:endParaRPr lang="en-US" sz="1088" dirty="0"/>
          </a:p>
        </p:txBody>
      </p:sp>
      <p:sp>
        <p:nvSpPr>
          <p:cNvPr id="7" name="Text 5"/>
          <p:cNvSpPr/>
          <p:nvPr/>
        </p:nvSpPr>
        <p:spPr>
          <a:xfrm>
            <a:off x="6540475" y="1815852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Majeed et al., “Sensitivity-Aware, PSO-Driven Customized-Budget ε-DP,” IEEE TKDE.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12128450" y="1815852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Cui et al., “Entropy-Aware DP for the Medibank Breach.”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952500" y="2264866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Guerra-Balboa et al., “Understanding Disclosure Risk in DP (Reconstruction Advantage).”</a:t>
            </a:r>
            <a:endParaRPr lang="en-US" sz="1088" dirty="0"/>
          </a:p>
        </p:txBody>
      </p:sp>
      <p:sp>
        <p:nvSpPr>
          <p:cNvPr id="10" name="Text 8"/>
          <p:cNvSpPr/>
          <p:nvPr/>
        </p:nvSpPr>
        <p:spPr>
          <a:xfrm>
            <a:off x="6540475" y="2264866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Deng et al., “Rethinking Query Choices for DP Auditing,” IEEE TDSC.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12128450" y="2264866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Xu et al., “ADPFL,” IEEE IoT-J.</a:t>
            </a:r>
            <a:endParaRPr lang="en-US" sz="1088" dirty="0"/>
          </a:p>
        </p:txBody>
      </p:sp>
      <p:sp>
        <p:nvSpPr>
          <p:cNvPr id="12" name="Text 10"/>
          <p:cNvSpPr/>
          <p:nvPr/>
        </p:nvSpPr>
        <p:spPr>
          <a:xfrm>
            <a:off x="952500" y="2713881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Wu, “Dynamic Privacy Budget Allocation via Multi-Dimensional Query Management,” ICECET.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6540475" y="2713881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Rathi, “Beyond Encryption: Holistic Privacy-Preserving Query Processing.”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12128450" y="2713881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Atlam et al., “Unified RBAC + ABAC Risk-Aware Access Control,” Future Internet.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952500" y="3162895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Ecoffet et al., “Experiments &amp; Analysis of Privacy-Preserving SQL Query Sanitization Systems.”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6540475" y="3162895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Sun et al., “DADP-BI: Distributed Adaptive DP with Blockchain Integration.”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12128450" y="3162895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Kulynych et al., “Unifying Re-Identification, Attribute Inference &amp; Reconstruction Risks in DP.”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952500" y="3611910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Zhang et al., “QAE-BAC: Quantifiable Anonymity &amp; Efficiency in Blockchain ABAC.”</a:t>
            </a:r>
            <a:endParaRPr lang="en-US" sz="1088" dirty="0"/>
          </a:p>
        </p:txBody>
      </p:sp>
      <p:sp>
        <p:nvSpPr>
          <p:cNvPr id="19" name="Text 17"/>
          <p:cNvSpPr/>
          <p:nvPr/>
        </p:nvSpPr>
        <p:spPr>
          <a:xfrm>
            <a:off x="6540475" y="3611910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Yu et al., “DOP-SQL,” VLDB.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12128450" y="3611910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Dong et al., “Continual Observation of Joins under Differential Privacy,” ACM SIGMOD.</a:t>
            </a:r>
            <a:endParaRPr lang="en-US" sz="1088" dirty="0"/>
          </a:p>
        </p:txBody>
      </p:sp>
      <p:sp>
        <p:nvSpPr>
          <p:cNvPr id="21" name="Text 19"/>
          <p:cNvSpPr/>
          <p:nvPr/>
        </p:nvSpPr>
        <p:spPr>
          <a:xfrm>
            <a:off x="952500" y="4060924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Zhang et al., “Anonymity in Attribute-Based Access Control: Framework and Metric,” IEEE TDSC.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540475" y="4060924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Dong et al., “Query Evaluation under Differential Privacy,” SIGMOD Record (survey).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2128450" y="4060924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Zhang et al., “DProvDB,” ACM SIGMOD.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952500" y="4509939"/>
            <a:ext cx="5727673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Chen et al., “DP Deep Learning with Dynamic Budget Allocation,” IEEE TIFS.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6540475" y="4509939"/>
            <a:ext cx="5727673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Pan et al., “DP Multi-Party Learning with Dynamic Budget Strategy.”</a:t>
            </a:r>
            <a:endParaRPr lang="en-US" sz="1088" dirty="0"/>
          </a:p>
        </p:txBody>
      </p:sp>
      <p:sp>
        <p:nvSpPr>
          <p:cNvPr id="26" name="Text 24"/>
          <p:cNvSpPr/>
          <p:nvPr/>
        </p:nvSpPr>
        <p:spPr>
          <a:xfrm>
            <a:off x="12128450" y="4509939"/>
            <a:ext cx="5727755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Aljaedi, “Triggering Differential Privacy to Counter Inference,” ICCIT.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952500" y="4772546"/>
            <a:ext cx="5727673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Kotsogiannis et al., “PrivateSQL,” VLDB.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6540475" y="4772546"/>
            <a:ext cx="5727673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Wilson et al., “DP SQL with Bounded User Contribution,” PoPETs.</a:t>
            </a:r>
            <a:endParaRPr lang="en-US" sz="1088" dirty="0"/>
          </a:p>
        </p:txBody>
      </p:sp>
      <p:sp>
        <p:nvSpPr>
          <p:cNvPr id="29" name="Text 27"/>
          <p:cNvSpPr/>
          <p:nvPr/>
        </p:nvSpPr>
        <p:spPr>
          <a:xfrm>
            <a:off x="12128450" y="4772546"/>
            <a:ext cx="5727755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Johnson et al., “Chorus: DP via Query Rewriting.”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952500" y="5035153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Johnson et al., “Towards Practical DP for SQL Queries,” VLDB.</a:t>
            </a:r>
            <a:endParaRPr lang="en-US" sz="1088" dirty="0"/>
          </a:p>
        </p:txBody>
      </p:sp>
      <p:sp>
        <p:nvSpPr>
          <p:cNvPr id="31" name="Text 29"/>
          <p:cNvSpPr/>
          <p:nvPr/>
        </p:nvSpPr>
        <p:spPr>
          <a:xfrm>
            <a:off x="6540475" y="5035153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Lu et al., “Statistical Database Auditing Without Query Denial Threat,” INFORMS J. Comp.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12128450" y="5035153"/>
            <a:ext cx="5363261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Shaikh et al., “Dynamic Risk-Based Decision Methods for Access Control,” Computers &amp; Security.</a:t>
            </a:r>
            <a:endParaRPr lang="en-US" sz="1088" dirty="0"/>
          </a:p>
        </p:txBody>
      </p:sp>
      <p:sp>
        <p:nvSpPr>
          <p:cNvPr id="33" name="Text 31"/>
          <p:cNvSpPr/>
          <p:nvPr/>
        </p:nvSpPr>
        <p:spPr>
          <a:xfrm>
            <a:off x="952500" y="5484168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Nabar et al., “Towards Robustness in Query Auditing.”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6540475" y="5484168"/>
            <a:ext cx="53631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088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 </a:t>
            </a:r>
            <a:r>
              <a:rPr lang="en-US" sz="1088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Chin &amp; Ozsoyoglu, “Auditing and Inference Control in Statistical Databases,” IEEE TSE.</a:t>
            </a:r>
            <a:endParaRPr lang="en-US" sz="1088" dirty="0"/>
          </a:p>
        </p:txBody>
      </p:sp>
      <p:sp>
        <p:nvSpPr>
          <p:cNvPr id="35" name="Shape 33"/>
          <p:cNvSpPr/>
          <p:nvPr/>
        </p:nvSpPr>
        <p:spPr>
          <a:xfrm>
            <a:off x="952500" y="9696450"/>
            <a:ext cx="16383000" cy="9525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6" name="Text 34"/>
          <p:cNvSpPr/>
          <p:nvPr/>
        </p:nvSpPr>
        <p:spPr>
          <a:xfrm>
            <a:off x="952500" y="9820275"/>
            <a:ext cx="9530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458108" y="9820275"/>
            <a:ext cx="20651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22-07-2026 · SCOPE · 8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1605</Words>
  <Application>Microsoft Office PowerPoint</Application>
  <PresentationFormat>Custom</PresentationFormat>
  <Paragraphs>195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somasundaram s k</cp:lastModifiedBy>
  <cp:revision>3</cp:revision>
  <dcterms:created xsi:type="dcterms:W3CDTF">2026-07-28T13:25:40Z</dcterms:created>
  <dcterms:modified xsi:type="dcterms:W3CDTF">2026-07-28T14:14:53Z</dcterms:modified>
</cp:coreProperties>
</file>